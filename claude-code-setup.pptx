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QH4EPR8Sf41FgSSAVdIGNCTIq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1"/>
  </p:normalViewPr>
  <p:slideViewPr>
    <p:cSldViewPr snapToGrid="0">
      <p:cViewPr varScale="1">
        <p:scale>
          <a:sx n="152" d="100"/>
          <a:sy n="152" d="100"/>
        </p:scale>
        <p:origin x="6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3" name="Google Shape;36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6" name="Google Shape;44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9" name="Google Shape;51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583680" y="457200"/>
            <a:ext cx="2103120" cy="21031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8BDF8">
              <a:alpha val="2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" name="Google Shape;19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8000" y="640080"/>
            <a:ext cx="1554480" cy="1554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457200" y="82296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4400"/>
              <a:buFont typeface="Trebuchet MS"/>
              <a:buNone/>
            </a:pPr>
            <a:r>
              <a:rPr lang="en-US" sz="44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Mon Setup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57200" y="160020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5200"/>
              <a:buFont typeface="Trebuchet MS"/>
              <a:buNone/>
            </a:pPr>
            <a:r>
              <a:rPr lang="en-US" sz="5200" b="1" i="0" u="none" strike="noStrike" cap="non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Claude Code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260604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Agents · Plugins · RAG · Hooks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310896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Fullstack dev @ Claranet  ·  Angular · Nuxt · Symfony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772400" y="42519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365760" y="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opusplan — Modèle à deux vitesses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 bon modèle au bon moment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28600" y="960120"/>
            <a:ext cx="4023360" cy="37490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228600" y="960120"/>
            <a:ext cx="45720" cy="37490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" name="Google Shape;36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1640" y="114300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365760" y="2057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500"/>
              <a:buFont typeface="Consolas"/>
              <a:buNone/>
            </a:pPr>
            <a:r>
              <a:rPr lang="en-US" sz="1500" b="1" i="0" u="none" strike="noStrike" cap="non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claude-opus-4-5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65760" y="2450592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900"/>
              <a:buFont typeface="Trebuchet MS"/>
              <a:buNone/>
            </a:pPr>
            <a:r>
              <a:rPr lang="en-US" sz="19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Planification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2926080"/>
            <a:ext cx="356616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Décomposition de features complexes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Détection des risques &amp; dépendances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Architecture et choix techniques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Estimation de scope (S/M/L)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Produit le plan, validé par l'humain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279392" y="2487168"/>
            <a:ext cx="58521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224528" y="2834640"/>
            <a:ext cx="69494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validé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892040" y="960120"/>
            <a:ext cx="4023360" cy="37490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892040" y="960120"/>
            <a:ext cx="45720" cy="37490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" name="Google Shape;44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6560" y="114300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5029200" y="20574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500"/>
              <a:buFont typeface="Consolas"/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claude-sonnet-4-5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029200" y="2450592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900"/>
              <a:buFont typeface="Trebuchet MS"/>
              <a:buNone/>
            </a:pPr>
            <a:r>
              <a:rPr lang="en-US" sz="1900" b="1" i="0" u="none" strike="noStrike" cap="none">
                <a:solidFill>
                  <a:srgbClr val="F8FAFC"/>
                </a:solidFill>
                <a:latin typeface="Trebuchet MS"/>
                <a:ea typeface="Trebuchet MS"/>
                <a:cs typeface="Trebuchet MS"/>
                <a:sym typeface="Trebuchet MS"/>
              </a:rPr>
              <a:t>Implémentation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029200" y="2926080"/>
            <a:ext cx="356616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Écriture du code guidée par le plan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Refactoring ciblé sur des fichiers précis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Correction d'erreurs build/runtime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Reviews de diff et commits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Rapide, efficace, économe en tokens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228600" y="4773168"/>
            <a:ext cx="8686800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228600" y="4773168"/>
            <a:ext cx="45720" cy="25603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347472" y="477316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opusplan = Opus par défaut, bascule automatique sur Sonnet pour les tâches d'exécution — configuré dans settings.json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365760" y="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Vue d'ensemble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Comment tout s'articule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365760" y="1188720"/>
            <a:ext cx="2560320" cy="32918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365760" y="1188720"/>
            <a:ext cx="45720" cy="32918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" name="Google Shape;61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5880" y="14173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/>
          <p:nvPr/>
        </p:nvSpPr>
        <p:spPr>
          <a:xfrm>
            <a:off x="502920" y="214884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Agents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02920" y="26060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Experts spécialisés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par domaine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200400" y="1188720"/>
            <a:ext cx="2560320" cy="32918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3200400" y="1188720"/>
            <a:ext cx="45720" cy="32918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60520" y="14173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3337560" y="214884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818CF8"/>
                </a:solidFill>
                <a:latin typeface="Trebuchet MS"/>
                <a:ea typeface="Trebuchet MS"/>
                <a:cs typeface="Trebuchet MS"/>
                <a:sym typeface="Trebuchet MS"/>
              </a:rPr>
              <a:t>Plugins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337560" y="26060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Extensions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du workflow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035040" y="1188720"/>
            <a:ext cx="2560320" cy="32918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6035040" y="1188720"/>
            <a:ext cx="45720" cy="32918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" name="Google Shape;71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995160" y="141732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6172200" y="214884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34D399"/>
                </a:solidFill>
                <a:latin typeface="Trebuchet MS"/>
                <a:ea typeface="Trebuchet MS"/>
                <a:cs typeface="Trebuchet MS"/>
                <a:sym typeface="Trebuchet MS"/>
              </a:rPr>
              <a:t>RAG + Hooks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172200" y="26060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Mémoire &amp;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automatisation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1645920" y="4572000"/>
            <a:ext cx="5852160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 tout piloté depuis le terminal via Claude Code CLI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365760" y="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Agents spécialisés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Chaque domaine a son expert dédié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228600" y="1051560"/>
            <a:ext cx="2834640" cy="8686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228600" y="1051560"/>
            <a:ext cx="45720" cy="86868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6" name="Google Shape;86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8328" y="11887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/>
          <p:nvPr/>
        </p:nvSpPr>
        <p:spPr>
          <a:xfrm>
            <a:off x="822960" y="112471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100"/>
              <a:buFont typeface="Consolas"/>
              <a:buNone/>
            </a:pPr>
            <a:r>
              <a:rPr lang="en-US" sz="1100" b="1" i="0" u="none" strike="noStrike" cap="none" dirty="0">
                <a:solidFill>
                  <a:srgbClr val="FB7185"/>
                </a:solidFill>
                <a:latin typeface="Consolas"/>
                <a:ea typeface="Consolas"/>
                <a:cs typeface="Consolas"/>
                <a:sym typeface="Consolas"/>
              </a:rPr>
              <a:t>angular-expert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822960" y="1444752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Angular 17-20, signals, standalone, migration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108960" y="1051560"/>
            <a:ext cx="2834640" cy="8686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3108960" y="1051560"/>
            <a:ext cx="45720" cy="8686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" name="Google Shape;91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18688" y="11887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3703320" y="112471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nuxt-expert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703320" y="1444752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Nuxt 4+, Vue 3.5, Drizzle ORM, Nitro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989320" y="1051560"/>
            <a:ext cx="2834640" cy="8686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5989320" y="1051560"/>
            <a:ext cx="45720" cy="8686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6" name="Google Shape;96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9048" y="11887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/>
          <p:nvPr/>
        </p:nvSpPr>
        <p:spPr>
          <a:xfrm>
            <a:off x="6583680" y="112471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symfony-expert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583680" y="1444752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Symfony 7+, PHP 8.3+, Doctrine, PHPStan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228600" y="2039112"/>
            <a:ext cx="2834640" cy="8686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228600" y="2039112"/>
            <a:ext cx="45720" cy="86868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1" name="Google Shape;101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8328" y="21762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4"/>
          <p:cNvSpPr/>
          <p:nvPr/>
        </p:nvSpPr>
        <p:spPr>
          <a:xfrm>
            <a:off x="822960" y="2112264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818CF8"/>
                </a:solidFill>
                <a:latin typeface="Consolas"/>
                <a:ea typeface="Consolas"/>
                <a:cs typeface="Consolas"/>
                <a:sym typeface="Consolas"/>
              </a:rPr>
              <a:t>planner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822960" y="2432304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Décompose les features avant toute implémentation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3108960" y="2039112"/>
            <a:ext cx="2834640" cy="8686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3108960" y="2039112"/>
            <a:ext cx="45720" cy="868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" name="Google Shape;106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18688" y="21762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/>
          <p:nvPr/>
        </p:nvSpPr>
        <p:spPr>
          <a:xfrm>
            <a:off x="3703320" y="2112264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git-diff-reviewer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703320" y="2432304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Review diff inter-branches, rapport structuré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989320" y="2039112"/>
            <a:ext cx="2834640" cy="8686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5989320" y="2039112"/>
            <a:ext cx="45720" cy="8686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" name="Google Shape;111;p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099048" y="21762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6583680" y="2112264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git-smart-commit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583680" y="2432304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Commits conventionnels automatiques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228600" y="3026664"/>
            <a:ext cx="2834640" cy="8686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228600" y="3026664"/>
            <a:ext cx="45720" cy="86868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" name="Google Shape;116;p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38328" y="3163824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822960" y="3099816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FB7185"/>
                </a:solidFill>
                <a:latin typeface="Consolas"/>
                <a:ea typeface="Consolas"/>
                <a:cs typeface="Consolas"/>
                <a:sym typeface="Consolas"/>
              </a:rPr>
              <a:t>build-error-resolver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22960" y="3419856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Diagnostique et corrige les erreurs build/runtime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3108960" y="3026664"/>
            <a:ext cx="2834640" cy="8686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3108960" y="3026664"/>
            <a:ext cx="45720" cy="868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1" name="Google Shape;121;p4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218688" y="3163824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/>
          <p:nvPr/>
        </p:nvSpPr>
        <p:spPr>
          <a:xfrm>
            <a:off x="3703320" y="3099816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100"/>
              <a:buFont typeface="Consolas"/>
              <a:buNone/>
            </a:pPr>
            <a:r>
              <a:rPr lang="en-US" sz="1100" b="1" i="0" u="none" strike="noStrike" cap="non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security-expert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703320" y="3419856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Audit SecureByDesign, OWASP, Angular/PHP/Docker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365760" y="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Plugins activés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Extensions qui enrichissent le workflow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228600" y="960120"/>
            <a:ext cx="4206240" cy="13258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228600" y="960120"/>
            <a:ext cx="45720" cy="132588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393192" y="103327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FB7185"/>
                </a:solidFill>
                <a:latin typeface="Consolas"/>
                <a:ea typeface="Consolas"/>
                <a:cs typeface="Consolas"/>
                <a:sym typeface="Consolas"/>
              </a:rPr>
              <a:t>RTK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93192" y="1307592"/>
            <a:ext cx="39776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Rust Token Killer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93192" y="1490472"/>
            <a:ext cx="395020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Hook PreToolUse qui intercepte toutes les commandes bash et les réécrit via rtk pour filtrer les outputs. Économie de 60–90% de tokens sur les opérations git/build/</a:t>
            </a: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ls/grep</a:t>
            </a: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393192" y="2029968"/>
            <a:ext cx="822960" cy="182880"/>
          </a:xfrm>
          <a:prstGeom prst="rect">
            <a:avLst/>
          </a:prstGeom>
          <a:solidFill>
            <a:srgbClr val="FB7185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393192" y="202996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B7185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289304" y="2029968"/>
            <a:ext cx="822960" cy="182880"/>
          </a:xfrm>
          <a:prstGeom prst="rect">
            <a:avLst/>
          </a:prstGeom>
          <a:solidFill>
            <a:srgbClr val="FB7185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1289304" y="202996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B7185"/>
                </a:solidFill>
                <a:latin typeface="Calibri"/>
                <a:ea typeface="Calibri"/>
                <a:cs typeface="Calibri"/>
                <a:sym typeface="Calibri"/>
              </a:rPr>
              <a:t>Tokens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709160" y="960120"/>
            <a:ext cx="4206240" cy="13258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4709160" y="960120"/>
            <a:ext cx="45720" cy="132588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4873752" y="103327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818CF8"/>
                </a:solidFill>
                <a:latin typeface="Consolas"/>
                <a:ea typeface="Consolas"/>
                <a:cs typeface="Consolas"/>
                <a:sym typeface="Consolas"/>
              </a:rPr>
              <a:t>claude-mem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873752" y="1307592"/>
            <a:ext cx="39776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thedotmack/claude-mem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873752" y="1490472"/>
            <a:ext cx="395020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Mémoire persistante entre les sessions. Permet de retrouver le contexte de projets précédents sans tout ré-expliquer.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873752" y="2029968"/>
            <a:ext cx="822960" cy="182880"/>
          </a:xfrm>
          <a:prstGeom prst="rect">
            <a:avLst/>
          </a:prstGeom>
          <a:solidFill>
            <a:srgbClr val="818CF8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4873752" y="202996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Mémoire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769864" y="2029968"/>
            <a:ext cx="822960" cy="182880"/>
          </a:xfrm>
          <a:prstGeom prst="rect">
            <a:avLst/>
          </a:prstGeom>
          <a:solidFill>
            <a:srgbClr val="818CF8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5769864" y="202996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Continuité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228600" y="2377440"/>
            <a:ext cx="4206240" cy="13258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228600" y="2377440"/>
            <a:ext cx="45720" cy="13258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393192" y="245059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superpowers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393192" y="2724912"/>
            <a:ext cx="39776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claude-plugins-official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393192" y="2907792"/>
            <a:ext cx="395020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Ensemble de capacités avancées pour Claude Code : meilleure compréhension du codebase, patterns de décomposition de tâches complexes.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393192" y="3447288"/>
            <a:ext cx="822960" cy="182880"/>
          </a:xfrm>
          <a:prstGeom prst="rect">
            <a:avLst/>
          </a:prstGeom>
          <a:solidFill>
            <a:srgbClr val="FBBF24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393192" y="344728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Capacités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1289304" y="3447288"/>
            <a:ext cx="822960" cy="182880"/>
          </a:xfrm>
          <a:prstGeom prst="rect">
            <a:avLst/>
          </a:prstGeom>
          <a:solidFill>
            <a:srgbClr val="FBBF24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1289304" y="344728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Officiel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4709160" y="2377440"/>
            <a:ext cx="4206240" cy="13258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4709160" y="2377440"/>
            <a:ext cx="45720" cy="13258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4873752" y="245059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frontend-design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873752" y="2724912"/>
            <a:ext cx="39776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claude-plugins-official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873752" y="2907792"/>
            <a:ext cx="395020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Génère des interfaces UI de qualité production. Évite les designs génériques AI. Utilisé pour les artifacts et composants visuels.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873752" y="3447288"/>
            <a:ext cx="822960" cy="182880"/>
          </a:xfrm>
          <a:prstGeom prst="rect">
            <a:avLst/>
          </a:prstGeom>
          <a:solidFill>
            <a:srgbClr val="34D399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4873752" y="344728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UI/UX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5769864" y="3447288"/>
            <a:ext cx="822960" cy="182880"/>
          </a:xfrm>
          <a:prstGeom prst="rect">
            <a:avLst/>
          </a:prstGeom>
          <a:solidFill>
            <a:srgbClr val="34D399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5769864" y="344728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228600" y="3794760"/>
            <a:ext cx="4206240" cy="13258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228600" y="3794760"/>
            <a:ext cx="45720" cy="1325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393192" y="386791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context7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393192" y="4142232"/>
            <a:ext cx="39776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claude-plugins-official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393192" y="4325112"/>
            <a:ext cx="395020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Accès aux documentations officielles à jour (Angular, Nuxt, Symfony…) directement dans le contexte. Évite les hallucinations sur les APIs.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393192" y="4864608"/>
            <a:ext cx="822960" cy="182880"/>
          </a:xfrm>
          <a:prstGeom prst="rect">
            <a:avLst/>
          </a:prstGeom>
          <a:solidFill>
            <a:srgbClr val="38BDF8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393192" y="486460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Docs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1289304" y="4864608"/>
            <a:ext cx="822960" cy="182880"/>
          </a:xfrm>
          <a:prstGeom prst="rect">
            <a:avLst/>
          </a:prstGeom>
          <a:solidFill>
            <a:srgbClr val="38BDF8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1289304" y="486460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Précision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709160" y="3794760"/>
            <a:ext cx="4206240" cy="132588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4709160" y="3794760"/>
            <a:ext cx="45720" cy="132588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4873752" y="386791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300"/>
              <a:buFont typeface="Consolas"/>
              <a:buNone/>
            </a:pPr>
            <a:r>
              <a:rPr lang="en-US" sz="1300" b="1" i="0" u="none" strike="noStrike" cap="none">
                <a:solidFill>
                  <a:srgbClr val="818CF8"/>
                </a:solidFill>
                <a:latin typeface="Consolas"/>
                <a:ea typeface="Consolas"/>
                <a:cs typeface="Consolas"/>
                <a:sym typeface="Consolas"/>
              </a:rPr>
              <a:t>generic-conventional-commits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873752" y="4142232"/>
            <a:ext cx="39776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@claranet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4873752" y="4325112"/>
            <a:ext cx="3950208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Convention de commits  intégrée nativement dans l'agent git-smart-commit.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4873752" y="4864608"/>
            <a:ext cx="822960" cy="182880"/>
          </a:xfrm>
          <a:prstGeom prst="rect">
            <a:avLst/>
          </a:prstGeom>
          <a:solidFill>
            <a:srgbClr val="818CF8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4873752" y="486460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5769864" y="4864608"/>
            <a:ext cx="822960" cy="182880"/>
          </a:xfrm>
          <a:prstGeom prst="rect">
            <a:avLst/>
          </a:prstGeom>
          <a:solidFill>
            <a:srgbClr val="818CF8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5769864" y="4864608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818CF8"/>
                </a:solidFill>
                <a:latin typeface="Calibri"/>
                <a:ea typeface="Calibri"/>
                <a:cs typeface="Calibri"/>
                <a:sym typeface="Calibri"/>
              </a:rPr>
              <a:t>Claranet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365760" y="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RAG-First Architecture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 mémoire qui s'améliore à chaque session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274320" y="960120"/>
            <a:ext cx="32004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274320" y="960120"/>
            <a:ext cx="4572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1" name="Google Shape;201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10515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6"/>
          <p:cNvSpPr/>
          <p:nvPr/>
        </p:nvSpPr>
        <p:spPr>
          <a:xfrm>
            <a:off x="777240" y="96012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Session active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1737360" y="1417320"/>
            <a:ext cx="27432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274320" y="1499616"/>
            <a:ext cx="32004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274320" y="1499616"/>
            <a:ext cx="45720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6" name="Google Shape;206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" y="159105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6"/>
          <p:cNvSpPr/>
          <p:nvPr/>
        </p:nvSpPr>
        <p:spPr>
          <a:xfrm>
            <a:off x="777240" y="1499616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Découverte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1737360" y="1956816"/>
            <a:ext cx="27432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274320" y="2039112"/>
            <a:ext cx="32004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274320" y="2039112"/>
            <a:ext cx="45720" cy="4572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1" name="Google Shape;211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1480" y="21305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6"/>
          <p:cNvSpPr/>
          <p:nvPr/>
        </p:nvSpPr>
        <p:spPr>
          <a:xfrm>
            <a:off x="777240" y="2039112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/tmp/learning-notes.md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1737360" y="2496312"/>
            <a:ext cx="27432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274320" y="2578608"/>
            <a:ext cx="32004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274320" y="2578608"/>
            <a:ext cx="45720" cy="457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6" name="Google Shape;216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1480" y="26700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6"/>
          <p:cNvSpPr/>
          <p:nvPr/>
        </p:nvSpPr>
        <p:spPr>
          <a:xfrm>
            <a:off x="777240" y="257860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capture-learning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737360" y="3035808"/>
            <a:ext cx="27432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274320" y="3118104"/>
            <a:ext cx="32004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274320" y="3118104"/>
            <a:ext cx="45720" cy="4572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1" name="Google Shape;221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11480" y="320954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6"/>
          <p:cNvSpPr/>
          <p:nvPr/>
        </p:nvSpPr>
        <p:spPr>
          <a:xfrm>
            <a:off x="777240" y="3118104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818CF8"/>
                </a:solidFill>
                <a:latin typeface="Consolas"/>
                <a:ea typeface="Consolas"/>
                <a:cs typeface="Consolas"/>
                <a:sym typeface="Consolas"/>
              </a:rPr>
              <a:t>seed-rag (.claude/skills/)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1737360" y="3575304"/>
            <a:ext cx="27432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274320" y="3657600"/>
            <a:ext cx="32004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6"/>
          <p:cNvSpPr/>
          <p:nvPr/>
        </p:nvSpPr>
        <p:spPr>
          <a:xfrm>
            <a:off x="274320" y="3657600"/>
            <a:ext cx="45720" cy="4572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6" name="Google Shape;226;p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1480" y="37490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6"/>
          <p:cNvSpPr/>
          <p:nvPr/>
        </p:nvSpPr>
        <p:spPr>
          <a:xfrm>
            <a:off x="777240" y="3657600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818CF8"/>
                </a:solidFill>
                <a:latin typeface="Consolas"/>
                <a:ea typeface="Consolas"/>
                <a:cs typeface="Consolas"/>
                <a:sym typeface="Consolas"/>
              </a:rPr>
              <a:t>Supabase RAG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1737360" y="4114800"/>
            <a:ext cx="27432" cy="1828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274320" y="4197096"/>
            <a:ext cx="3200400" cy="457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274320" y="4197096"/>
            <a:ext cx="4572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1" name="Google Shape;231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428853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6"/>
          <p:cNvSpPr/>
          <p:nvPr/>
        </p:nvSpPr>
        <p:spPr>
          <a:xfrm>
            <a:off x="777240" y="4197096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Session suivante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3840480" y="960120"/>
            <a:ext cx="5029200" cy="39776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3840480" y="960120"/>
            <a:ext cx="45720" cy="39776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3977640" y="10515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818CF8"/>
                </a:solidFill>
                <a:latin typeface="Trebuchet MS"/>
                <a:ea typeface="Trebuchet MS"/>
                <a:cs typeface="Trebuchet MS"/>
                <a:sym typeface="Trebuchet MS"/>
              </a:rPr>
              <a:t>Scope des connaissances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3977640" y="1554480"/>
            <a:ext cx="1005840" cy="256032"/>
          </a:xfrm>
          <a:prstGeom prst="rect">
            <a:avLst/>
          </a:prstGeom>
          <a:solidFill>
            <a:srgbClr val="34D399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3977640" y="155448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global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5074920" y="154533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Pattern Angular générique (signals, @if, standalone)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3977640" y="2286000"/>
            <a:ext cx="1005840" cy="256032"/>
          </a:xfrm>
          <a:prstGeom prst="rect">
            <a:avLst/>
          </a:prstGeom>
          <a:solidFill>
            <a:srgbClr val="34D399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3977640" y="228600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global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5074920" y="22768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Gotcha Symfony (cast int, PHPStan level 8)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3977640" y="3017520"/>
            <a:ext cx="1005840" cy="256032"/>
          </a:xfrm>
          <a:prstGeom prst="rect">
            <a:avLst/>
          </a:prstGeom>
          <a:solidFill>
            <a:srgbClr val="FBBF24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3977640" y="301752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5074920" y="300837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Convention </a:t>
            </a:r>
            <a:r>
              <a:rPr lang="en-US" sz="10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 projets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3977640" y="3749040"/>
            <a:ext cx="1005840" cy="256032"/>
          </a:xfrm>
          <a:prstGeom prst="rect">
            <a:avLst/>
          </a:prstGeom>
          <a:solidFill>
            <a:srgbClr val="FBBF24">
              <a:alpha val="2509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3977640" y="37490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5074920" y="373989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Architecture spécifique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3977640" y="457200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Règle : en cas de doute → scope global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365760" y="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RAG — Retrieval-Augmented Generation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 base de connaissance qui grandit avec l'usage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274320" y="960120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FB7185"/>
                </a:solidFill>
                <a:latin typeface="Trebuchet MS"/>
                <a:ea typeface="Trebuchet MS"/>
                <a:cs typeface="Trebuchet MS"/>
                <a:sym typeface="Trebuchet MS"/>
              </a:rPr>
              <a:t>Pourquoi un RAG 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274320" y="1417320"/>
            <a:ext cx="3931920" cy="6858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274320" y="1417320"/>
            <a:ext cx="45720" cy="6858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0" name="Google Shape;260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158191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9"/>
          <p:cNvSpPr/>
          <p:nvPr/>
        </p:nvSpPr>
        <p:spPr>
          <a:xfrm>
            <a:off x="822960" y="1417320"/>
            <a:ext cx="3246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Les LLMs n'ont pas de mémoire entre sessions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274320" y="2221992"/>
            <a:ext cx="3931920" cy="6858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274320" y="2221992"/>
            <a:ext cx="45720" cy="685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4" name="Google Shape;264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" y="238658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9"/>
          <p:cNvSpPr/>
          <p:nvPr/>
        </p:nvSpPr>
        <p:spPr>
          <a:xfrm>
            <a:off x="822960" y="2221992"/>
            <a:ext cx="3246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Chaque projet a ses conventions spécifiques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274320" y="3026664"/>
            <a:ext cx="3931920" cy="6858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274320" y="3026664"/>
            <a:ext cx="45720" cy="685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8" name="Google Shape;268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1480" y="319125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9"/>
          <p:cNvSpPr/>
          <p:nvPr/>
        </p:nvSpPr>
        <p:spPr>
          <a:xfrm>
            <a:off x="822960" y="3026664"/>
            <a:ext cx="3246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Les instructions d'agents doivent s'améliorer dans le temps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274320" y="3831336"/>
            <a:ext cx="3931920" cy="6858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274320" y="3831336"/>
            <a:ext cx="45720" cy="685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2" name="Google Shape;272;p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1480" y="399592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9"/>
          <p:cNvSpPr/>
          <p:nvPr/>
        </p:nvSpPr>
        <p:spPr>
          <a:xfrm>
            <a:off x="822960" y="3831336"/>
            <a:ext cx="3246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Éviter de ré-expliquer le contexte à chaque session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4434840" y="960120"/>
            <a:ext cx="44348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818CF8"/>
                </a:solidFill>
                <a:latin typeface="Trebuchet MS"/>
                <a:ea typeface="Trebuchet MS"/>
                <a:cs typeface="Trebuchet MS"/>
                <a:sym typeface="Trebuchet MS"/>
              </a:rPr>
              <a:t>Comment ça marche 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4434840" y="1371600"/>
            <a:ext cx="4434840" cy="12344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4434840" y="1371600"/>
            <a:ext cx="45720" cy="12344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4617720" y="146304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818CF8"/>
                </a:solidFill>
                <a:latin typeface="Trebuchet MS"/>
                <a:ea typeface="Trebuchet MS"/>
                <a:cs typeface="Trebuchet MS"/>
                <a:sym typeface="Trebuchet MS"/>
              </a:rPr>
              <a:t>Stack technique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4617720" y="1783080"/>
            <a:ext cx="41148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PostgreSQL + pgvector  →  stockage des embeddings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Supabase  →  hébergement + API REST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0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Char char="•"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Table rag_agent_instructions  →  instructions par agent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4434840" y="2697480"/>
            <a:ext cx="4434840" cy="18745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4434840" y="2697480"/>
            <a:ext cx="45720" cy="18745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4617720" y="278892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34D399"/>
                </a:solidFill>
                <a:latin typeface="Trebuchet MS"/>
                <a:ea typeface="Trebuchet MS"/>
                <a:cs typeface="Trebuchet MS"/>
                <a:sym typeface="Trebuchet MS"/>
              </a:rPr>
              <a:t>Cycle de vie d'une instruction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4617720" y="3172968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4617720" y="317296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4919472" y="312724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Agent actif charge ses instructions via psql au démarrage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4617720" y="3520440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4617720" y="352044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4919472" y="347472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Découverte → note dans /tmp/learning-notes.md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4617720" y="3867912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9"/>
          <p:cNvSpPr/>
          <p:nvPr/>
        </p:nvSpPr>
        <p:spPr>
          <a:xfrm>
            <a:off x="4617720" y="386791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4919472" y="382219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capture-learning filtre, classe et insère dans Supabase (</a:t>
            </a:r>
            <a:r>
              <a:rPr lang="en-US" sz="700" i="1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ou BDD locale</a:t>
            </a: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4617720" y="4215384"/>
            <a:ext cx="237744" cy="237744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4617720" y="421538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4919472" y="4169664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Session suivante : l'agent part avec le savoir accumulé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274320" y="4663440"/>
            <a:ext cx="45720" cy="34747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411480" y="466344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Scope : project='global' pour les patterns réutilisables · project='$RAG_PROJECT' pour les conventions propres au projet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365760" y="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Alimenter le RAG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.claude/skills/seed-rag/ — intégré dans capture-learning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228600" y="960120"/>
            <a:ext cx="8686800" cy="80467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228600" y="960120"/>
            <a:ext cx="45720" cy="80467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" name="Google Shape;307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1024128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0"/>
          <p:cNvSpPr/>
          <p:nvPr/>
        </p:nvSpPr>
        <p:spPr>
          <a:xfrm>
            <a:off x="896112" y="9875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200"/>
              <a:buFont typeface="Consolas"/>
              <a:buNone/>
            </a:pPr>
            <a:r>
              <a:rPr lang="en-US" sz="1200" b="1" i="0" u="none" strike="noStrike" cap="none">
                <a:solidFill>
                  <a:srgbClr val="818CF8"/>
                </a:solidFill>
                <a:latin typeface="Consolas"/>
                <a:ea typeface="Consolas"/>
                <a:cs typeface="Consolas"/>
                <a:sym typeface="Consolas"/>
              </a:rPr>
              <a:t>skill : rag-context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896112" y="1280160"/>
            <a:ext cx="5943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Chargé au démarrage et avant tout plan. Détecte l’agent actif → charge ses instructions en priorité (filtre optionnel). Fallback gracieux si RAG_DSN absent.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6949440" y="1033272"/>
            <a:ext cx="1810512" cy="60350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6967728" y="1033272"/>
            <a:ext cx="1792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AGENT_FILTER= 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 psql $RAG_DSN...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228600" y="192024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Indexer (depuis .claude/skills/seed-rag/)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228600" y="2331720"/>
            <a:ext cx="416052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228600" y="2331720"/>
            <a:ext cx="36576" cy="3291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347472" y="234086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Dry-run (toujours en premier)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347472" y="2487168"/>
            <a:ext cx="39319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python .claude/skills/seed-rag/seed_rag.py --file note.md --agent angular-expert --dry-run --preview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228600" y="2734056"/>
            <a:ext cx="416052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228600" y="2734056"/>
            <a:ext cx="36576" cy="3291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347472" y="2743200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Ajouter sans écraser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347472" y="2889504"/>
            <a:ext cx="39319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python .claude/skills/seed-rag/seed_rag.py --file SKILL.md --agent nuxt-expert --append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228600" y="3136392"/>
            <a:ext cx="416052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228600" y="3136392"/>
            <a:ext cx="36576" cy="3291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347472" y="3145536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Indexer un dossier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347472" y="3291840"/>
            <a:ext cx="39319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python .claude/skills/seed-rag/seed_rag.py --dir ./docs --agent archforge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228600" y="3538728"/>
            <a:ext cx="416052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0"/>
          <p:cNvSpPr/>
          <p:nvPr/>
        </p:nvSpPr>
        <p:spPr>
          <a:xfrm>
            <a:off x="228600" y="3538728"/>
            <a:ext cx="36576" cy="3291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347472" y="3547872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Plusieurs fichiers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347472" y="3694176"/>
            <a:ext cx="39319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python .claude/skills/seed-rag/seed_rag.py --files a.md b.md --agent security-expert --append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228600" y="3941064"/>
            <a:ext cx="416052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228600" y="3941064"/>
            <a:ext cx="36576" cy="3291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347472" y="3950208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Réindexer (force)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347472" y="4096512"/>
            <a:ext cx="39319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python .claude/skills/seed-rag/seed_rag.py --dir . --agent archforge --force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228600" y="4343400"/>
            <a:ext cx="4160520" cy="329184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228600" y="4343400"/>
            <a:ext cx="36576" cy="32918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347472" y="4352544"/>
            <a:ext cx="14173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lang="en-US" sz="85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Depuis capture-learning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347472" y="4498848"/>
            <a:ext cx="393192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00"/>
              <a:buFont typeface="Consolas"/>
              <a:buNone/>
            </a:pPr>
            <a:r>
              <a:rPr lang="en-US" sz="800" b="0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python .claude/skills/seed-rag/seed_rag.py --file /tmp/learned-x.md --agent angular-expert --append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4617720" y="192024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Ce que fait seed_rag.py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4617720" y="2331720"/>
            <a:ext cx="4206240" cy="521208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4617720" y="2331720"/>
            <a:ext cx="45720" cy="5212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0" name="Google Shape;340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36592" y="244144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0"/>
          <p:cNvSpPr/>
          <p:nvPr/>
        </p:nvSpPr>
        <p:spPr>
          <a:xfrm>
            <a:off x="5102352" y="2368296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Parse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5102352" y="2587752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Découpe les .md en sections sémantiques (H2 → H3 → H4)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4617720" y="2944368"/>
            <a:ext cx="4206240" cy="521208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4617720" y="2944368"/>
            <a:ext cx="45720" cy="5212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5" name="Google Shape;345;p1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36592" y="305409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0"/>
          <p:cNvSpPr/>
          <p:nvPr/>
        </p:nvSpPr>
        <p:spPr>
          <a:xfrm>
            <a:off x="5102352" y="2980944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Class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5102352" y="3200400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Détecte auto le section_type via regex (role, process, best_practices…)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4617720" y="3557016"/>
            <a:ext cx="4206240" cy="521208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4617720" y="3557016"/>
            <a:ext cx="45720" cy="5212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0" name="Google Shape;350;p1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36592" y="366674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0"/>
          <p:cNvSpPr/>
          <p:nvPr/>
        </p:nvSpPr>
        <p:spPr>
          <a:xfrm>
            <a:off x="5102352" y="3593592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34D399"/>
                </a:solidFill>
                <a:latin typeface="Trebuchet MS"/>
                <a:ea typeface="Trebuchet MS"/>
                <a:cs typeface="Trebuchet MS"/>
                <a:sym typeface="Trebuchet MS"/>
              </a:rPr>
              <a:t>Insert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5102352" y="3813048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Insère dans rag_agent_instructions avec agent_name + project scope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4617720" y="4169664"/>
            <a:ext cx="4206240" cy="521208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4617720" y="4169664"/>
            <a:ext cx="45720" cy="521208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5" name="Google Shape;355;p1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36592" y="42793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0"/>
          <p:cNvSpPr/>
          <p:nvPr/>
        </p:nvSpPr>
        <p:spPr>
          <a:xfrm>
            <a:off x="5102352" y="4206240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818CF8"/>
                </a:solidFill>
                <a:latin typeface="Trebuchet MS"/>
                <a:ea typeface="Trebuchet MS"/>
                <a:cs typeface="Trebuchet MS"/>
                <a:sym typeface="Trebuchet MS"/>
              </a:rPr>
              <a:t>Vérifie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5102352" y="4425696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Rapport post-insertion : sections par type, chars, dry-run disponible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228600" y="4773168"/>
            <a:ext cx="8686800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228600" y="4773168"/>
            <a:ext cx="45720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347472" y="477316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Variables : RAG_DSN (connection string Supabase) · RAG_PROJECT (scope du projet, défaut: global)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7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7"/>
          <p:cNvSpPr/>
          <p:nvPr/>
        </p:nvSpPr>
        <p:spPr>
          <a:xfrm>
            <a:off x="365760" y="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Hooks &amp; Skills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7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Automatisation et bonnes pratiques — 4 hooks · 7 skills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7"/>
          <p:cNvSpPr/>
          <p:nvPr/>
        </p:nvSpPr>
        <p:spPr>
          <a:xfrm>
            <a:off x="274320" y="9144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Hooks (settings.json)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7"/>
          <p:cNvSpPr/>
          <p:nvPr/>
        </p:nvSpPr>
        <p:spPr>
          <a:xfrm>
            <a:off x="274320" y="1371600"/>
            <a:ext cx="3931920" cy="749808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7"/>
          <p:cNvSpPr/>
          <p:nvPr/>
        </p:nvSpPr>
        <p:spPr>
          <a:xfrm>
            <a:off x="274320" y="1371600"/>
            <a:ext cx="45720" cy="7498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7"/>
          <p:cNvSpPr/>
          <p:nvPr/>
        </p:nvSpPr>
        <p:spPr>
          <a:xfrm>
            <a:off x="457200" y="141732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PreToolUse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7"/>
          <p:cNvSpPr/>
          <p:nvPr/>
        </p:nvSpPr>
        <p:spPr>
          <a:xfrm>
            <a:off x="1874520" y="141732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rtk-rewrite.sh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7"/>
          <p:cNvSpPr/>
          <p:nvPr/>
        </p:nvSpPr>
        <p:spPr>
          <a:xfrm>
            <a:off x="457200" y="1719072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Réécriture automatique des commandes bash → RTK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7"/>
          <p:cNvSpPr/>
          <p:nvPr/>
        </p:nvSpPr>
        <p:spPr>
          <a:xfrm>
            <a:off x="274320" y="2221992"/>
            <a:ext cx="3931920" cy="749808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7"/>
          <p:cNvSpPr/>
          <p:nvPr/>
        </p:nvSpPr>
        <p:spPr>
          <a:xfrm>
            <a:off x="274320" y="2221992"/>
            <a:ext cx="45720" cy="7498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7"/>
          <p:cNvSpPr/>
          <p:nvPr/>
        </p:nvSpPr>
        <p:spPr>
          <a:xfrm>
            <a:off x="457200" y="226771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PostToolUse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7"/>
          <p:cNvSpPr/>
          <p:nvPr/>
        </p:nvSpPr>
        <p:spPr>
          <a:xfrm>
            <a:off x="1874520" y="226771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error detector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7"/>
          <p:cNvSpPr/>
          <p:nvPr/>
        </p:nvSpPr>
        <p:spPr>
          <a:xfrm>
            <a:off x="457200" y="2569464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Détecte les erreurs build et loggue dans learning-notes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7"/>
          <p:cNvSpPr/>
          <p:nvPr/>
        </p:nvSpPr>
        <p:spPr>
          <a:xfrm>
            <a:off x="274320" y="3072384"/>
            <a:ext cx="3931920" cy="749808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7"/>
          <p:cNvSpPr/>
          <p:nvPr/>
        </p:nvSpPr>
        <p:spPr>
          <a:xfrm>
            <a:off x="274320" y="3072384"/>
            <a:ext cx="45720" cy="7498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7"/>
          <p:cNvSpPr/>
          <p:nvPr/>
        </p:nvSpPr>
        <p:spPr>
          <a:xfrm>
            <a:off x="457200" y="311810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Notification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7"/>
          <p:cNvSpPr/>
          <p:nvPr/>
        </p:nvSpPr>
        <p:spPr>
          <a:xfrm>
            <a:off x="1874520" y="311810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Submarine.aiff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7"/>
          <p:cNvSpPr/>
          <p:nvPr/>
        </p:nvSpPr>
        <p:spPr>
          <a:xfrm>
            <a:off x="457200" y="3419856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Son macOS quand une permission est requise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7"/>
          <p:cNvSpPr/>
          <p:nvPr/>
        </p:nvSpPr>
        <p:spPr>
          <a:xfrm>
            <a:off x="274320" y="3922776"/>
            <a:ext cx="3931920" cy="749808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7"/>
          <p:cNvSpPr/>
          <p:nvPr/>
        </p:nvSpPr>
        <p:spPr>
          <a:xfrm>
            <a:off x="274320" y="3922776"/>
            <a:ext cx="45720" cy="7498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7"/>
          <p:cNvSpPr/>
          <p:nvPr/>
        </p:nvSpPr>
        <p:spPr>
          <a:xfrm>
            <a:off x="457200" y="3968496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Consolas"/>
              <a:buNone/>
            </a:pPr>
            <a:r>
              <a:rPr lang="en-US" sz="1000" b="1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Stop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7"/>
          <p:cNvSpPr/>
          <p:nvPr/>
        </p:nvSpPr>
        <p:spPr>
          <a:xfrm>
            <a:off x="1874520" y="3968496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Consolas"/>
              <a:buNone/>
            </a:pPr>
            <a:r>
              <a:rPr lang="en-US" sz="900" b="0" i="0" u="none" strike="noStrike" cap="none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rPr>
              <a:t>Hero.aiff + check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7"/>
          <p:cNvSpPr/>
          <p:nvPr/>
        </p:nvSpPr>
        <p:spPr>
          <a:xfrm>
            <a:off x="457200" y="4270248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Avertit si des learning-notes non capturées existent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7"/>
          <p:cNvSpPr/>
          <p:nvPr/>
        </p:nvSpPr>
        <p:spPr>
          <a:xfrm>
            <a:off x="4480560" y="914400"/>
            <a:ext cx="43891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400"/>
              <a:buFont typeface="Trebuchet MS"/>
              <a:buNone/>
            </a:pPr>
            <a:r>
              <a:rPr lang="en-US" sz="1400" b="1" i="0" u="none" strike="noStrike" cap="none">
                <a:solidFill>
                  <a:srgbClr val="34D399"/>
                </a:solidFill>
                <a:latin typeface="Trebuchet MS"/>
                <a:ea typeface="Trebuchet MS"/>
                <a:cs typeface="Trebuchet MS"/>
                <a:sym typeface="Trebuchet MS"/>
              </a:rPr>
              <a:t>Skills transversaux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7"/>
          <p:cNvSpPr/>
          <p:nvPr/>
        </p:nvSpPr>
        <p:spPr>
          <a:xfrm>
            <a:off x="4480560" y="1371600"/>
            <a:ext cx="2103120" cy="80467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7"/>
          <p:cNvSpPr/>
          <p:nvPr/>
        </p:nvSpPr>
        <p:spPr>
          <a:xfrm>
            <a:off x="4480560" y="1371600"/>
            <a:ext cx="45720" cy="8046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7"/>
          <p:cNvSpPr/>
          <p:nvPr/>
        </p:nvSpPr>
        <p:spPr>
          <a:xfrm>
            <a:off x="4590288" y="1417320"/>
            <a:ext cx="190195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00"/>
              <a:buFont typeface="Consolas"/>
              <a:buNone/>
            </a:pPr>
            <a:r>
              <a:rPr lang="en-US" sz="8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capture-learning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7"/>
          <p:cNvSpPr/>
          <p:nvPr/>
        </p:nvSpPr>
        <p:spPr>
          <a:xfrm>
            <a:off x="4590288" y="1645920"/>
            <a:ext cx="190195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Évalue les notes → crée un .md → délègue à seed-rag.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7"/>
          <p:cNvSpPr/>
          <p:nvPr/>
        </p:nvSpPr>
        <p:spPr>
          <a:xfrm>
            <a:off x="6693408" y="1371600"/>
            <a:ext cx="2103120" cy="80467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7"/>
          <p:cNvSpPr/>
          <p:nvPr/>
        </p:nvSpPr>
        <p:spPr>
          <a:xfrm>
            <a:off x="6693408" y="1371600"/>
            <a:ext cx="45720" cy="80467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7"/>
          <p:cNvSpPr/>
          <p:nvPr/>
        </p:nvSpPr>
        <p:spPr>
          <a:xfrm>
            <a:off x="6803136" y="1417320"/>
            <a:ext cx="190195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800"/>
              <a:buFont typeface="Consolas"/>
              <a:buNone/>
            </a:pPr>
            <a:r>
              <a:rPr lang="en-US" sz="800" b="1" i="0" u="none" strike="noStrike" cap="none">
                <a:solidFill>
                  <a:srgbClr val="818CF8"/>
                </a:solidFill>
                <a:latin typeface="Consolas"/>
                <a:ea typeface="Consolas"/>
                <a:cs typeface="Consolas"/>
                <a:sym typeface="Consolas"/>
              </a:rPr>
              <a:t>seed-rag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7"/>
          <p:cNvSpPr/>
          <p:nvPr/>
        </p:nvSpPr>
        <p:spPr>
          <a:xfrm>
            <a:off x="6803136" y="1645920"/>
            <a:ext cx="190195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Indexe .md/.py dans Supabase. Remplace le psql INSERT direct.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7"/>
          <p:cNvSpPr/>
          <p:nvPr/>
        </p:nvSpPr>
        <p:spPr>
          <a:xfrm>
            <a:off x="4480560" y="2286000"/>
            <a:ext cx="2103120" cy="80467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7"/>
          <p:cNvSpPr/>
          <p:nvPr/>
        </p:nvSpPr>
        <p:spPr>
          <a:xfrm>
            <a:off x="4480560" y="2286000"/>
            <a:ext cx="45720" cy="8046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7"/>
          <p:cNvSpPr/>
          <p:nvPr/>
        </p:nvSpPr>
        <p:spPr>
          <a:xfrm>
            <a:off x="4590288" y="2331720"/>
            <a:ext cx="190195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800"/>
              <a:buFont typeface="Consolas"/>
              <a:buNone/>
            </a:pPr>
            <a:r>
              <a:rPr lang="en-US" sz="800" b="1" i="0" u="none" strike="noStrike" cap="none">
                <a:solidFill>
                  <a:srgbClr val="38BDF8"/>
                </a:solidFill>
                <a:latin typeface="Consolas"/>
                <a:ea typeface="Consolas"/>
                <a:cs typeface="Consolas"/>
                <a:sym typeface="Consolas"/>
              </a:rPr>
              <a:t>rag-context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7"/>
          <p:cNvSpPr/>
          <p:nvPr/>
        </p:nvSpPr>
        <p:spPr>
          <a:xfrm>
            <a:off x="4590288" y="2560320"/>
            <a:ext cx="190195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Charge les instructions RAG au démarrage, avec filtre optionnel par agent.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7"/>
          <p:cNvSpPr/>
          <p:nvPr/>
        </p:nvSpPr>
        <p:spPr>
          <a:xfrm>
            <a:off x="6693408" y="2286000"/>
            <a:ext cx="2103120" cy="80467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7"/>
          <p:cNvSpPr/>
          <p:nvPr/>
        </p:nvSpPr>
        <p:spPr>
          <a:xfrm>
            <a:off x="6693408" y="2286000"/>
            <a:ext cx="45720" cy="804672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7"/>
          <p:cNvSpPr/>
          <p:nvPr/>
        </p:nvSpPr>
        <p:spPr>
          <a:xfrm>
            <a:off x="6803136" y="2331720"/>
            <a:ext cx="190195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800"/>
              <a:buFont typeface="Consolas"/>
              <a:buNone/>
            </a:pPr>
            <a:r>
              <a:rPr lang="en-US" sz="800" b="1" i="0" u="none" strike="noStrike" cap="none">
                <a:solidFill>
                  <a:srgbClr val="FB7185"/>
                </a:solidFill>
                <a:latin typeface="Consolas"/>
                <a:ea typeface="Consolas"/>
                <a:cs typeface="Consolas"/>
                <a:sym typeface="Consolas"/>
              </a:rPr>
              <a:t>rag-audit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7"/>
          <p:cNvSpPr/>
          <p:nvPr/>
        </p:nvSpPr>
        <p:spPr>
          <a:xfrm>
            <a:off x="6803136" y="2560320"/>
            <a:ext cx="190195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Inspecte, dé-doublonne et nettoie le contenu de Supabase</a:t>
            </a:r>
            <a:r>
              <a:rPr lang="en-US" sz="8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700" i="1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ou BDD locale</a:t>
            </a:r>
            <a:r>
              <a:rPr lang="en-US" sz="8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-US" sz="8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RAG.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7"/>
          <p:cNvSpPr/>
          <p:nvPr/>
        </p:nvSpPr>
        <p:spPr>
          <a:xfrm>
            <a:off x="4480560" y="3200400"/>
            <a:ext cx="2103120" cy="80467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7"/>
          <p:cNvSpPr/>
          <p:nvPr/>
        </p:nvSpPr>
        <p:spPr>
          <a:xfrm>
            <a:off x="4480560" y="3200400"/>
            <a:ext cx="45720" cy="8046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7"/>
          <p:cNvSpPr/>
          <p:nvPr/>
        </p:nvSpPr>
        <p:spPr>
          <a:xfrm>
            <a:off x="4590288" y="3246120"/>
            <a:ext cx="190195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00"/>
              <a:buFont typeface="Consolas"/>
              <a:buNone/>
            </a:pPr>
            <a:r>
              <a:rPr lang="en-US" sz="8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verification-loop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7"/>
          <p:cNvSpPr/>
          <p:nvPr/>
        </p:nvSpPr>
        <p:spPr>
          <a:xfrm>
            <a:off x="4590288" y="3474720"/>
            <a:ext cx="190195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Vérifie build + tests + régressions avant de déclarer done.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7"/>
          <p:cNvSpPr/>
          <p:nvPr/>
        </p:nvSpPr>
        <p:spPr>
          <a:xfrm>
            <a:off x="6693408" y="3200400"/>
            <a:ext cx="2103120" cy="80467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7"/>
          <p:cNvSpPr/>
          <p:nvPr/>
        </p:nvSpPr>
        <p:spPr>
          <a:xfrm>
            <a:off x="6693408" y="3200400"/>
            <a:ext cx="45720" cy="8046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7"/>
          <p:cNvSpPr/>
          <p:nvPr/>
        </p:nvSpPr>
        <p:spPr>
          <a:xfrm>
            <a:off x="6803136" y="3246120"/>
            <a:ext cx="190195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00"/>
              <a:buFont typeface="Consolas"/>
              <a:buNone/>
            </a:pPr>
            <a:r>
              <a:rPr lang="en-US" sz="8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strategic-compact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7"/>
          <p:cNvSpPr/>
          <p:nvPr/>
        </p:nvSpPr>
        <p:spPr>
          <a:xfrm>
            <a:off x="6803136" y="3474720"/>
            <a:ext cx="190195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Résume le contexte et prépare /compact avant saturation.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7"/>
          <p:cNvSpPr/>
          <p:nvPr/>
        </p:nvSpPr>
        <p:spPr>
          <a:xfrm>
            <a:off x="4480560" y="4114800"/>
            <a:ext cx="2103120" cy="80467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7"/>
          <p:cNvSpPr/>
          <p:nvPr/>
        </p:nvSpPr>
        <p:spPr>
          <a:xfrm>
            <a:off x="4480560" y="4114800"/>
            <a:ext cx="45720" cy="8046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7"/>
          <p:cNvSpPr/>
          <p:nvPr/>
        </p:nvSpPr>
        <p:spPr>
          <a:xfrm>
            <a:off x="4590288" y="4160520"/>
            <a:ext cx="190195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800"/>
              <a:buFont typeface="Consolas"/>
              <a:buNone/>
            </a:pPr>
            <a:r>
              <a:rPr lang="en-US" sz="800" b="1" i="0" u="none" strike="noStrike" cap="none">
                <a:solidFill>
                  <a:srgbClr val="34D399"/>
                </a:solidFill>
                <a:latin typeface="Consolas"/>
                <a:ea typeface="Consolas"/>
                <a:cs typeface="Consolas"/>
                <a:sym typeface="Consolas"/>
              </a:rPr>
              <a:t>git-diff-review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7"/>
          <p:cNvSpPr/>
          <p:nvPr/>
        </p:nvSpPr>
        <p:spPr>
          <a:xfrm>
            <a:off x="4590288" y="4389120"/>
            <a:ext cx="190195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Review diff inter-branches (version/changelog check inclus).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1"/>
          <p:cNvSpPr/>
          <p:nvPr/>
        </p:nvSpPr>
        <p:spPr>
          <a:xfrm>
            <a:off x="365760" y="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Copilot + Claude Code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Deux outils complémentaires pour un workflow optimisé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228600" y="960120"/>
            <a:ext cx="4160520" cy="37947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1"/>
          <p:cNvSpPr/>
          <p:nvPr/>
        </p:nvSpPr>
        <p:spPr>
          <a:xfrm>
            <a:off x="228600" y="960120"/>
            <a:ext cx="45720" cy="3794760"/>
          </a:xfrm>
          <a:prstGeom prst="rect">
            <a:avLst/>
          </a:prstGeom>
          <a:solidFill>
            <a:srgbClr val="4078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9" name="Google Shape;429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7360" y="109728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1"/>
          <p:cNvSpPr/>
          <p:nvPr/>
        </p:nvSpPr>
        <p:spPr>
          <a:xfrm>
            <a:off x="365760" y="196596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078C0"/>
              </a:buClr>
              <a:buSzPts val="1800"/>
              <a:buFont typeface="Trebuchet MS"/>
              <a:buNone/>
            </a:pPr>
            <a:r>
              <a:rPr lang="en-US" sz="1800" b="1" i="0" u="none" strike="noStrike" cap="none">
                <a:solidFill>
                  <a:srgbClr val="4078C0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Copilot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365760" y="235915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Auto-complétion &amp; tâches simples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411480" y="2788920"/>
            <a:ext cx="384048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Inline completion dans VS Code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Suggestions contextuelles au keystroke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Tâches simples : renommages, boilerplate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Coût fixe inclus dans GitHub Pro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Pas de coût variable à l’usage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4206240" y="2377440"/>
            <a:ext cx="731520" cy="4114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1"/>
          <p:cNvSpPr/>
          <p:nvPr/>
        </p:nvSpPr>
        <p:spPr>
          <a:xfrm>
            <a:off x="4206240" y="237744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94A3B8"/>
                </a:solidFill>
                <a:latin typeface="Trebuchet MS"/>
                <a:ea typeface="Trebuchet MS"/>
                <a:cs typeface="Trebuchet MS"/>
                <a:sym typeface="Trebuchet MS"/>
              </a:rPr>
              <a:t>VS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4754880" y="960120"/>
            <a:ext cx="4160520" cy="37947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1"/>
          <p:cNvSpPr/>
          <p:nvPr/>
        </p:nvSpPr>
        <p:spPr>
          <a:xfrm>
            <a:off x="4754880" y="960120"/>
            <a:ext cx="45720" cy="37947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7" name="Google Shape;437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9360" y="1097280"/>
            <a:ext cx="777240" cy="77724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11"/>
          <p:cNvSpPr/>
          <p:nvPr/>
        </p:nvSpPr>
        <p:spPr>
          <a:xfrm>
            <a:off x="4892040" y="196596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800"/>
              <a:buFont typeface="Trebuchet MS"/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Claude Code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4892040" y="235915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Tâches complexes &amp; agents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4892040" y="2788920"/>
            <a:ext cx="388620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Refactoring architectural complet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Agents spécialisés multi-fichiers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Planification + implémentation guidée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RAG &amp; mémoire inter-sessions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Char char="•"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Cout variable via oneLLM (Claranet)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228600" y="4773168"/>
            <a:ext cx="8686800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228600" y="4773168"/>
            <a:ext cx="45720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347472" y="477316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Stratégie : Copilot pour le flux continu de code · Claude Code pour les décisions complexes et les agents autonomes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2"/>
          <p:cNvSpPr/>
          <p:nvPr/>
        </p:nvSpPr>
        <p:spPr>
          <a:xfrm>
            <a:off x="365760" y="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200"/>
              <a:buFont typeface="Trebuchet MS"/>
              <a:buNone/>
            </a:pPr>
            <a:r>
              <a:rPr lang="en-US" sz="2200" b="1" i="0" u="none" strike="noStrike" cap="non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Workflow de développement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365760" y="59436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Deux modes selon la complexité de la tâche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228600" y="960120"/>
            <a:ext cx="4160520" cy="347472"/>
          </a:xfrm>
          <a:prstGeom prst="rect">
            <a:avLst/>
          </a:prstGeom>
          <a:solidFill>
            <a:srgbClr val="34D399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2"/>
          <p:cNvSpPr/>
          <p:nvPr/>
        </p:nvSpPr>
        <p:spPr>
          <a:xfrm>
            <a:off x="228600" y="960120"/>
            <a:ext cx="45720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2"/>
          <p:cNvSpPr/>
          <p:nvPr/>
        </p:nvSpPr>
        <p:spPr>
          <a:xfrm>
            <a:off x="320040" y="96012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34D399"/>
                </a:solidFill>
                <a:latin typeface="Trebuchet MS"/>
                <a:ea typeface="Trebuchet MS"/>
                <a:cs typeface="Trebuchet MS"/>
                <a:sym typeface="Trebuchet MS"/>
              </a:rPr>
              <a:t>TÂCHE SIMPLE  ·  mode plan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228600" y="1417320"/>
            <a:ext cx="4160520" cy="5943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2"/>
          <p:cNvSpPr/>
          <p:nvPr/>
        </p:nvSpPr>
        <p:spPr>
          <a:xfrm>
            <a:off x="228600" y="1417320"/>
            <a:ext cx="45720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2"/>
          <p:cNvSpPr/>
          <p:nvPr/>
        </p:nvSpPr>
        <p:spPr>
          <a:xfrm>
            <a:off x="347472" y="1572768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2"/>
          <p:cNvSpPr/>
          <p:nvPr/>
        </p:nvSpPr>
        <p:spPr>
          <a:xfrm>
            <a:off x="347472" y="157276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722376" y="1453896"/>
            <a:ext cx="3520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34D399"/>
                </a:solidFill>
                <a:latin typeface="Trebuchet MS"/>
                <a:ea typeface="Trebuchet MS"/>
                <a:cs typeface="Trebuchet MS"/>
                <a:sym typeface="Trebuchet MS"/>
              </a:rPr>
              <a:t>Spec claire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722376" y="1691640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Rédige la spec dans le CLAUDE.md ou dans un doc dédié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228600" y="2112264"/>
            <a:ext cx="4160520" cy="5943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2"/>
          <p:cNvSpPr/>
          <p:nvPr/>
        </p:nvSpPr>
        <p:spPr>
          <a:xfrm>
            <a:off x="228600" y="2112264"/>
            <a:ext cx="45720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2"/>
          <p:cNvSpPr/>
          <p:nvPr/>
        </p:nvSpPr>
        <p:spPr>
          <a:xfrm>
            <a:off x="347472" y="226771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2"/>
          <p:cNvSpPr/>
          <p:nvPr/>
        </p:nvSpPr>
        <p:spPr>
          <a:xfrm>
            <a:off x="347472" y="22677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722376" y="2148840"/>
            <a:ext cx="3520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34D399"/>
                </a:solidFill>
                <a:latin typeface="Trebuchet MS"/>
                <a:ea typeface="Trebuchet MS"/>
                <a:cs typeface="Trebuchet MS"/>
                <a:sym typeface="Trebuchet MS"/>
              </a:rPr>
              <a:t>Screenshots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722376" y="2386584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Ajoute des captures dans /docs/screenshots/ pour le contexte visuel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228600" y="2807208"/>
            <a:ext cx="4160520" cy="5943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2"/>
          <p:cNvSpPr/>
          <p:nvPr/>
        </p:nvSpPr>
        <p:spPr>
          <a:xfrm>
            <a:off x="228600" y="2807208"/>
            <a:ext cx="45720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2"/>
          <p:cNvSpPr/>
          <p:nvPr/>
        </p:nvSpPr>
        <p:spPr>
          <a:xfrm>
            <a:off x="347472" y="296265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2"/>
          <p:cNvSpPr/>
          <p:nvPr/>
        </p:nvSpPr>
        <p:spPr>
          <a:xfrm>
            <a:off x="347472" y="296265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722376" y="2843784"/>
            <a:ext cx="3520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34D399"/>
                </a:solidFill>
                <a:latin typeface="Trebuchet MS"/>
                <a:ea typeface="Trebuchet MS"/>
                <a:cs typeface="Trebuchet MS"/>
                <a:sym typeface="Trebuchet MS"/>
              </a:rPr>
              <a:t>Génération du plan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722376" y="3081528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Demande à Claude Code de générer un plan complet (agent planner)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228600" y="3502152"/>
            <a:ext cx="4160520" cy="5943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2"/>
          <p:cNvSpPr/>
          <p:nvPr/>
        </p:nvSpPr>
        <p:spPr>
          <a:xfrm>
            <a:off x="228600" y="3502152"/>
            <a:ext cx="45720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2"/>
          <p:cNvSpPr/>
          <p:nvPr/>
        </p:nvSpPr>
        <p:spPr>
          <a:xfrm>
            <a:off x="347472" y="365760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2"/>
          <p:cNvSpPr/>
          <p:nvPr/>
        </p:nvSpPr>
        <p:spPr>
          <a:xfrm>
            <a:off x="347472" y="365760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722376" y="3538728"/>
            <a:ext cx="3520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34D399"/>
                </a:solidFill>
                <a:latin typeface="Trebuchet MS"/>
                <a:ea typeface="Trebuchet MS"/>
                <a:cs typeface="Trebuchet MS"/>
                <a:sym typeface="Trebuchet MS"/>
              </a:rPr>
              <a:t>Relecture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722376" y="3776472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Relis le plan — adapte ou valide selon ce qui est proposé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228600" y="4197096"/>
            <a:ext cx="4160520" cy="5943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2"/>
          <p:cNvSpPr/>
          <p:nvPr/>
        </p:nvSpPr>
        <p:spPr>
          <a:xfrm>
            <a:off x="228600" y="4197096"/>
            <a:ext cx="45720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2"/>
          <p:cNvSpPr/>
          <p:nvPr/>
        </p:nvSpPr>
        <p:spPr>
          <a:xfrm>
            <a:off x="347472" y="435254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4D3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2"/>
          <p:cNvSpPr/>
          <p:nvPr/>
        </p:nvSpPr>
        <p:spPr>
          <a:xfrm>
            <a:off x="347472" y="435254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722376" y="4233672"/>
            <a:ext cx="3520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4D399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34D399"/>
                </a:solidFill>
                <a:latin typeface="Trebuchet MS"/>
                <a:ea typeface="Trebuchet MS"/>
                <a:cs typeface="Trebuchet MS"/>
                <a:sym typeface="Trebuchet MS"/>
              </a:rPr>
              <a:t>Exécution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722376" y="4471416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Claude Code exécute le plan validé de façon autonome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4754880" y="960120"/>
            <a:ext cx="4160520" cy="347472"/>
          </a:xfrm>
          <a:prstGeom prst="rect">
            <a:avLst/>
          </a:prstGeom>
          <a:solidFill>
            <a:srgbClr val="818CF8">
              <a:alpha val="1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2"/>
          <p:cNvSpPr/>
          <p:nvPr/>
        </p:nvSpPr>
        <p:spPr>
          <a:xfrm>
            <a:off x="4754880" y="960120"/>
            <a:ext cx="45720" cy="347472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2"/>
          <p:cNvSpPr/>
          <p:nvPr/>
        </p:nvSpPr>
        <p:spPr>
          <a:xfrm>
            <a:off x="4846320" y="960120"/>
            <a:ext cx="40233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818CF8"/>
                </a:solidFill>
                <a:latin typeface="Trebuchet MS"/>
                <a:ea typeface="Trebuchet MS"/>
                <a:cs typeface="Trebuchet MS"/>
                <a:sym typeface="Trebuchet MS"/>
              </a:rPr>
              <a:t>TÂCHE COMPLEXE  ·  mode superpowers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4754880" y="1417320"/>
            <a:ext cx="4160520" cy="5943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12"/>
          <p:cNvSpPr/>
          <p:nvPr/>
        </p:nvSpPr>
        <p:spPr>
          <a:xfrm>
            <a:off x="4754880" y="1417320"/>
            <a:ext cx="45720" cy="59436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2"/>
          <p:cNvSpPr/>
          <p:nvPr/>
        </p:nvSpPr>
        <p:spPr>
          <a:xfrm>
            <a:off x="4873752" y="1572768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2"/>
          <p:cNvSpPr/>
          <p:nvPr/>
        </p:nvSpPr>
        <p:spPr>
          <a:xfrm>
            <a:off x="4873752" y="157276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5248656" y="1453896"/>
            <a:ext cx="3520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818CF8"/>
                </a:solidFill>
                <a:latin typeface="Trebuchet MS"/>
                <a:ea typeface="Trebuchet MS"/>
                <a:cs typeface="Trebuchet MS"/>
                <a:sym typeface="Trebuchet MS"/>
              </a:rPr>
              <a:t>Writing Plan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5248656" y="1691640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Superpowers génère un plan de rédaction structuré (spec + contraintes)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4754880" y="2112264"/>
            <a:ext cx="4160520" cy="5943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4754880" y="2112264"/>
            <a:ext cx="45720" cy="59436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2"/>
          <p:cNvSpPr/>
          <p:nvPr/>
        </p:nvSpPr>
        <p:spPr>
          <a:xfrm>
            <a:off x="4873752" y="226771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2"/>
          <p:cNvSpPr/>
          <p:nvPr/>
        </p:nvSpPr>
        <p:spPr>
          <a:xfrm>
            <a:off x="4873752" y="22677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5248656" y="2148840"/>
            <a:ext cx="3520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818CF8"/>
                </a:solidFill>
                <a:latin typeface="Trebuchet MS"/>
                <a:ea typeface="Trebuchet MS"/>
                <a:cs typeface="Trebuchet MS"/>
                <a:sym typeface="Trebuchet MS"/>
              </a:rPr>
              <a:t>Plan Implementation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5248656" y="2386584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Décomposition en sous-tâches avec dépendances et ordre d’exécution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4754880" y="2807208"/>
            <a:ext cx="4160520" cy="59436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4754880" y="2807208"/>
            <a:ext cx="45720" cy="59436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2"/>
          <p:cNvSpPr/>
          <p:nvPr/>
        </p:nvSpPr>
        <p:spPr>
          <a:xfrm>
            <a:off x="4873752" y="2962656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2"/>
          <p:cNvSpPr/>
          <p:nvPr/>
        </p:nvSpPr>
        <p:spPr>
          <a:xfrm>
            <a:off x="4873752" y="296265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5248656" y="2843784"/>
            <a:ext cx="3520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100"/>
              <a:buFont typeface="Trebuchet MS"/>
              <a:buNone/>
            </a:pPr>
            <a:r>
              <a:rPr lang="en-US" sz="1100" b="1" i="0" u="none" strike="noStrike" cap="none">
                <a:solidFill>
                  <a:srgbClr val="818CF8"/>
                </a:solidFill>
                <a:latin typeface="Trebuchet MS"/>
                <a:ea typeface="Trebuchet MS"/>
                <a:cs typeface="Trebuchet MS"/>
                <a:sym typeface="Trebuchet MS"/>
              </a:rPr>
              <a:t>Code Implementation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5248656" y="3081528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Selon les tokens déjà dépensés :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4754880" y="3429000"/>
            <a:ext cx="2011680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2"/>
          <p:cNvSpPr/>
          <p:nvPr/>
        </p:nvSpPr>
        <p:spPr>
          <a:xfrm>
            <a:off x="4754880" y="3429000"/>
            <a:ext cx="45720" cy="960120"/>
          </a:xfrm>
          <a:prstGeom prst="rect">
            <a:avLst/>
          </a:prstGeom>
          <a:solidFill>
            <a:srgbClr val="4078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12"/>
          <p:cNvSpPr/>
          <p:nvPr/>
        </p:nvSpPr>
        <p:spPr>
          <a:xfrm>
            <a:off x="4846320" y="34747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078C0"/>
              </a:buClr>
              <a:buSzPts val="1000"/>
              <a:buFont typeface="Trebuchet MS"/>
              <a:buNone/>
            </a:pPr>
            <a:r>
              <a:rPr lang="en-US" sz="1000" b="1" i="0" u="none" strike="noStrike" cap="none">
                <a:solidFill>
                  <a:srgbClr val="4078C0"/>
                </a:solidFill>
                <a:latin typeface="Trebuchet MS"/>
                <a:ea typeface="Trebuchet MS"/>
                <a:cs typeface="Trebuchet MS"/>
                <a:sym typeface="Trebuchet MS"/>
              </a:rPr>
              <a:t>Budget OK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2"/>
          <p:cNvSpPr/>
          <p:nvPr/>
        </p:nvSpPr>
        <p:spPr>
          <a:xfrm>
            <a:off x="4846320" y="373075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Superpowers code impl.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6858000" y="3429000"/>
            <a:ext cx="2011680" cy="96012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27000" dist="381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12"/>
          <p:cNvSpPr/>
          <p:nvPr/>
        </p:nvSpPr>
        <p:spPr>
          <a:xfrm>
            <a:off x="6858000" y="3429000"/>
            <a:ext cx="45720" cy="96012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12"/>
          <p:cNvSpPr/>
          <p:nvPr/>
        </p:nvSpPr>
        <p:spPr>
          <a:xfrm>
            <a:off x="6949440" y="34747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B7185"/>
              </a:buClr>
              <a:buSzPts val="1000"/>
              <a:buFont typeface="Trebuchet MS"/>
              <a:buNone/>
            </a:pPr>
            <a:r>
              <a:rPr lang="en-US" sz="1000" b="1">
                <a:solidFill>
                  <a:srgbClr val="FB7185"/>
                </a:solidFill>
                <a:latin typeface="Trebuchet MS"/>
                <a:ea typeface="Trebuchet MS"/>
                <a:cs typeface="Trebuchet MS"/>
                <a:sym typeface="Trebuchet MS"/>
              </a:rPr>
              <a:t>Taux de consommation de tokens élevé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2"/>
          <p:cNvSpPr/>
          <p:nvPr/>
        </p:nvSpPr>
        <p:spPr>
          <a:xfrm>
            <a:off x="6949440" y="373075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GitHub Copilot pour le code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228600" y="4773168"/>
            <a:ext cx="8686800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2"/>
          <p:cNvSpPr/>
          <p:nvPr/>
        </p:nvSpPr>
        <p:spPr>
          <a:xfrm>
            <a:off x="228600" y="4773168"/>
            <a:ext cx="45720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2"/>
          <p:cNvSpPr/>
          <p:nvPr/>
        </p:nvSpPr>
        <p:spPr>
          <a:xfrm>
            <a:off x="347472" y="477316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 plan est toujours relu par l’humain avant exécution — l’autonomie de Claude Code est supervisée, pas aveugle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>
              <a:alpha val="4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13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5" name="Google Shape;525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0" y="274320"/>
            <a:ext cx="173736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13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200"/>
              <a:buFont typeface="Trebuchet MS"/>
              <a:buNone/>
            </a:pPr>
            <a:r>
              <a:rPr lang="en-US" sz="3200" b="1" i="0" u="none" strike="noStrike" cap="none">
                <a:solidFill>
                  <a:srgbClr val="38BDF8"/>
                </a:solidFill>
                <a:latin typeface="Trebuchet MS"/>
                <a:ea typeface="Trebuchet MS"/>
                <a:cs typeface="Trebuchet MS"/>
                <a:sym typeface="Trebuchet MS"/>
              </a:rPr>
              <a:t>En résumé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3"/>
          <p:cNvSpPr/>
          <p:nvPr/>
        </p:nvSpPr>
        <p:spPr>
          <a:xfrm>
            <a:off x="1371600" y="2697480"/>
            <a:ext cx="64008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9 agents spécialisés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6 plugins amplifient les capacités nativement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opusplan : Opus pour planifier, Sonnet pour coder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RAG Supabase : la base de connaissance grandit </a:t>
            </a:r>
            <a:r>
              <a:rPr lang="en-US" sz="13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à</a:t>
            </a:r>
            <a:r>
              <a:rPr lang="en-US" sz="13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chaque session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Les hooks automatisent la qualité sans friction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Claude Code comme levier de productivité continue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1408</Words>
  <Application>Microsoft Macintosh PowerPoint</Application>
  <PresentationFormat>Affichage à l'écran (16:9)</PresentationFormat>
  <Paragraphs>257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Camille</dc:creator>
  <cp:lastModifiedBy>Camille Police</cp:lastModifiedBy>
  <cp:revision>1</cp:revision>
  <dcterms:created xsi:type="dcterms:W3CDTF">2026-04-01T08:24:10Z</dcterms:created>
  <dcterms:modified xsi:type="dcterms:W3CDTF">2026-04-01T12:37:12Z</dcterms:modified>
</cp:coreProperties>
</file>